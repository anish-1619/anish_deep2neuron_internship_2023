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gif" ContentType="image/gi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3"/>
    <p:sldId id="263" r:id="rId4"/>
    <p:sldId id="264" r:id="rId5"/>
    <p:sldId id="269" r:id="rId6"/>
    <p:sldId id="257" r:id="rId7"/>
    <p:sldId id="266" r:id="rId8"/>
    <p:sldId id="265" r:id="rId9"/>
    <p:sldId id="258" r:id="rId10"/>
    <p:sldId id="268" r:id="rId11"/>
    <p:sldId id="267" r:id="rId12"/>
    <p:sldId id="259" r:id="rId13"/>
    <p:sldId id="260" r:id="rId14"/>
    <p:sldId id="278" r:id="rId15"/>
    <p:sldId id="279" r:id="rId16"/>
    <p:sldId id="280" r:id="rId17"/>
    <p:sldId id="281" r:id="rId18"/>
  </p:sldIdLst>
  <p:sldSz cx="13004800" cy="97536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2400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1pPr>
    <a:lvl2pPr marL="0" marR="0" indent="2286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2400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2pPr>
    <a:lvl3pPr marL="0" marR="0" indent="4572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2400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3pPr>
    <a:lvl4pPr marL="0" marR="0" indent="6858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2400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4pPr>
    <a:lvl5pPr marL="0" marR="0" indent="9144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2400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5pPr>
    <a:lvl6pPr marL="0" marR="0" indent="11430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2400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6pPr>
    <a:lvl7pPr marL="0" marR="0" indent="13716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2400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7pPr>
    <a:lvl8pPr marL="0" marR="0" indent="16002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2400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8pPr>
    <a:lvl9pPr marL="0" marR="0" indent="18288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2400" b="1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Helvetica Neue"/>
        <a:ea typeface="Helvetica Neue"/>
        <a:cs typeface="Helvetica Neue"/>
        <a:sym typeface="Helvetica Neue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C61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940675A-B579-460E-94D1-54222C63F5D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8" d="100"/>
          <a:sy n="48" d="100"/>
        </p:scale>
        <p:origin x="-1408" y="-104"/>
      </p:cViewPr>
      <p:guideLst>
        <p:guide orient="horz" pos="3112"/>
        <p:guide pos="409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notesMaster" Target="notesMasters/notesMaster1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Shape 116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117" name="Shape 117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1pPr>
    <a:lvl2pPr indent="228600"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2pPr>
    <a:lvl3pPr indent="457200"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3pPr>
    <a:lvl4pPr indent="685800"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4pPr>
    <a:lvl5pPr indent="914400"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8000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标题与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标题文本"/>
          <p:cNvSpPr txBox="1">
            <a:spLocks noGrp="1"/>
          </p:cNvSpPr>
          <p:nvPr>
            <p:ph type="title" hasCustomPrompt="1"/>
          </p:nvPr>
        </p:nvSpPr>
        <p:spPr>
          <a:xfrm>
            <a:off x="1270000" y="1638300"/>
            <a:ext cx="10464800" cy="3302000"/>
          </a:xfrm>
          <a:prstGeom prst="rect">
            <a:avLst/>
          </a:prstGeom>
        </p:spPr>
        <p:txBody>
          <a:bodyPr anchor="b"/>
          <a:lstStyle/>
          <a:p>
            <a:r>
              <a:t>标题文本</a:t>
            </a:r>
          </a:p>
        </p:txBody>
      </p:sp>
      <p:sp>
        <p:nvSpPr>
          <p:cNvPr id="12" name="正文级别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70000" y="5041900"/>
            <a:ext cx="10464800" cy="113030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3700"/>
            </a:lvl1pPr>
            <a:lvl2pPr marL="0" indent="228600" algn="ctr">
              <a:spcBef>
                <a:spcPts val="0"/>
              </a:spcBef>
              <a:buSzTx/>
              <a:buNone/>
              <a:defRPr sz="3700"/>
            </a:lvl2pPr>
            <a:lvl3pPr marL="0" indent="457200" algn="ctr">
              <a:spcBef>
                <a:spcPts val="0"/>
              </a:spcBef>
              <a:buSzTx/>
              <a:buNone/>
              <a:defRPr sz="3700"/>
            </a:lvl3pPr>
            <a:lvl4pPr marL="0" indent="685800" algn="ctr">
              <a:spcBef>
                <a:spcPts val="0"/>
              </a:spcBef>
              <a:buSzTx/>
              <a:buNone/>
              <a:defRPr sz="3700"/>
            </a:lvl4pPr>
            <a:lvl5pPr marL="0" indent="914400" algn="ctr">
              <a:spcBef>
                <a:spcPts val="0"/>
              </a:spcBef>
              <a:buSzTx/>
              <a:buNone/>
              <a:defRPr sz="3700"/>
            </a:lvl5pPr>
          </a:lstStyle>
          <a:p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13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照片 - 水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图像"/>
          <p:cNvSpPr>
            <a:spLocks noGrp="1"/>
          </p:cNvSpPr>
          <p:nvPr>
            <p:ph type="pic" idx="13"/>
          </p:nvPr>
        </p:nvSpPr>
        <p:spPr>
          <a:xfrm>
            <a:off x="1625600" y="673100"/>
            <a:ext cx="9753600" cy="59055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/>
        </p:txBody>
      </p:sp>
      <p:sp>
        <p:nvSpPr>
          <p:cNvPr id="21" name="标题文本"/>
          <p:cNvSpPr txBox="1">
            <a:spLocks noGrp="1"/>
          </p:cNvSpPr>
          <p:nvPr>
            <p:ph type="title" hasCustomPrompt="1"/>
          </p:nvPr>
        </p:nvSpPr>
        <p:spPr>
          <a:xfrm>
            <a:off x="1270000" y="6718300"/>
            <a:ext cx="10464800" cy="1422400"/>
          </a:xfrm>
          <a:prstGeom prst="rect">
            <a:avLst/>
          </a:prstGeom>
        </p:spPr>
        <p:txBody>
          <a:bodyPr anchor="b"/>
          <a:lstStyle/>
          <a:p>
            <a:r>
              <a:t>标题文本</a:t>
            </a:r>
          </a:p>
        </p:txBody>
      </p:sp>
      <p:sp>
        <p:nvSpPr>
          <p:cNvPr id="22" name="正文级别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70000" y="8153400"/>
            <a:ext cx="10464800" cy="113030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3700"/>
            </a:lvl1pPr>
            <a:lvl2pPr marL="0" indent="228600" algn="ctr">
              <a:spcBef>
                <a:spcPts val="0"/>
              </a:spcBef>
              <a:buSzTx/>
              <a:buNone/>
              <a:defRPr sz="3700"/>
            </a:lvl2pPr>
            <a:lvl3pPr marL="0" indent="457200" algn="ctr">
              <a:spcBef>
                <a:spcPts val="0"/>
              </a:spcBef>
              <a:buSzTx/>
              <a:buNone/>
              <a:defRPr sz="3700"/>
            </a:lvl3pPr>
            <a:lvl4pPr marL="0" indent="685800" algn="ctr">
              <a:spcBef>
                <a:spcPts val="0"/>
              </a:spcBef>
              <a:buSzTx/>
              <a:buNone/>
              <a:defRPr sz="3700"/>
            </a:lvl4pPr>
            <a:lvl5pPr marL="0" indent="914400" algn="ctr">
              <a:spcBef>
                <a:spcPts val="0"/>
              </a:spcBef>
              <a:buSzTx/>
              <a:buNone/>
              <a:defRPr sz="3700"/>
            </a:lvl5pPr>
          </a:lstStyle>
          <a:p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23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标题 - 居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标题文本"/>
          <p:cNvSpPr txBox="1">
            <a:spLocks noGrp="1"/>
          </p:cNvSpPr>
          <p:nvPr>
            <p:ph type="title" hasCustomPrompt="1"/>
          </p:nvPr>
        </p:nvSpPr>
        <p:spPr>
          <a:xfrm>
            <a:off x="1270000" y="3225800"/>
            <a:ext cx="10464800" cy="3302000"/>
          </a:xfrm>
          <a:prstGeom prst="rect">
            <a:avLst/>
          </a:prstGeom>
        </p:spPr>
        <p:txBody>
          <a:bodyPr/>
          <a:lstStyle/>
          <a:p>
            <a:r>
              <a:t>标题文本</a:t>
            </a:r>
          </a:p>
        </p:txBody>
      </p:sp>
      <p:sp>
        <p:nvSpPr>
          <p:cNvPr id="31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照片 - 垂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图像"/>
          <p:cNvSpPr>
            <a:spLocks noGrp="1"/>
          </p:cNvSpPr>
          <p:nvPr>
            <p:ph type="pic" sz="half" idx="13"/>
          </p:nvPr>
        </p:nvSpPr>
        <p:spPr>
          <a:xfrm>
            <a:off x="6718300" y="635000"/>
            <a:ext cx="5334000" cy="82169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/>
        </p:txBody>
      </p:sp>
      <p:sp>
        <p:nvSpPr>
          <p:cNvPr id="39" name="标题文本"/>
          <p:cNvSpPr txBox="1">
            <a:spLocks noGrp="1"/>
          </p:cNvSpPr>
          <p:nvPr>
            <p:ph type="title" hasCustomPrompt="1"/>
          </p:nvPr>
        </p:nvSpPr>
        <p:spPr>
          <a:xfrm>
            <a:off x="952500" y="635000"/>
            <a:ext cx="5334000" cy="3987800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t>标题文本</a:t>
            </a:r>
          </a:p>
        </p:txBody>
      </p:sp>
      <p:sp>
        <p:nvSpPr>
          <p:cNvPr id="40" name="正文级别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952500" y="4724400"/>
            <a:ext cx="5334000" cy="4114800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3700"/>
            </a:lvl1pPr>
            <a:lvl2pPr marL="0" indent="228600" algn="ctr">
              <a:spcBef>
                <a:spcPts val="0"/>
              </a:spcBef>
              <a:buSzTx/>
              <a:buNone/>
              <a:defRPr sz="3700"/>
            </a:lvl2pPr>
            <a:lvl3pPr marL="0" indent="457200" algn="ctr">
              <a:spcBef>
                <a:spcPts val="0"/>
              </a:spcBef>
              <a:buSzTx/>
              <a:buNone/>
              <a:defRPr sz="3700"/>
            </a:lvl3pPr>
            <a:lvl4pPr marL="0" indent="685800" algn="ctr">
              <a:spcBef>
                <a:spcPts val="0"/>
              </a:spcBef>
              <a:buSzTx/>
              <a:buNone/>
              <a:defRPr sz="3700"/>
            </a:lvl4pPr>
            <a:lvl5pPr marL="0" indent="914400" algn="ctr">
              <a:spcBef>
                <a:spcPts val="0"/>
              </a:spcBef>
              <a:buSzTx/>
              <a:buNone/>
              <a:defRPr sz="3700"/>
            </a:lvl5pPr>
          </a:lstStyle>
          <a:p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41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标题 - 顶部对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标题文本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标题文本</a:t>
            </a:r>
          </a:p>
        </p:txBody>
      </p:sp>
      <p:sp>
        <p:nvSpPr>
          <p:cNvPr id="49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标题与项目符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标题文本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标题文本</a:t>
            </a:r>
          </a:p>
        </p:txBody>
      </p:sp>
      <p:sp>
        <p:nvSpPr>
          <p:cNvPr id="57" name="正文级别 1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58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标题、项目符号与照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图像"/>
          <p:cNvSpPr>
            <a:spLocks noGrp="1"/>
          </p:cNvSpPr>
          <p:nvPr>
            <p:ph type="pic" sz="half" idx="13"/>
          </p:nvPr>
        </p:nvSpPr>
        <p:spPr>
          <a:xfrm>
            <a:off x="6718300" y="2590800"/>
            <a:ext cx="5334000" cy="62865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/>
        </p:txBody>
      </p:sp>
      <p:sp>
        <p:nvSpPr>
          <p:cNvPr id="66" name="标题文本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标题文本</a:t>
            </a:r>
          </a:p>
        </p:txBody>
      </p:sp>
      <p:sp>
        <p:nvSpPr>
          <p:cNvPr id="67" name="正文级别 1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952500" y="2590800"/>
            <a:ext cx="5334000" cy="6286500"/>
          </a:xfrm>
          <a:prstGeom prst="rect">
            <a:avLst/>
          </a:prstGeom>
        </p:spPr>
        <p:txBody>
          <a:bodyPr/>
          <a:lstStyle>
            <a:lvl1pPr marL="342900" indent="-342900">
              <a:spcBef>
                <a:spcPts val="3200"/>
              </a:spcBef>
              <a:defRPr sz="2800"/>
            </a:lvl1pPr>
            <a:lvl2pPr marL="685800" indent="-342900">
              <a:spcBef>
                <a:spcPts val="3200"/>
              </a:spcBef>
              <a:defRPr sz="2800"/>
            </a:lvl2pPr>
            <a:lvl3pPr marL="1028700" indent="-342900">
              <a:spcBef>
                <a:spcPts val="3200"/>
              </a:spcBef>
              <a:defRPr sz="2800"/>
            </a:lvl3pPr>
            <a:lvl4pPr marL="1371600" indent="-342900">
              <a:spcBef>
                <a:spcPts val="3200"/>
              </a:spcBef>
              <a:defRPr sz="2800"/>
            </a:lvl4pPr>
            <a:lvl5pPr marL="1714500" indent="-342900">
              <a:spcBef>
                <a:spcPts val="3200"/>
              </a:spcBef>
              <a:defRPr sz="2800"/>
            </a:lvl5pPr>
          </a:lstStyle>
          <a:p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68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6328884" y="9296400"/>
            <a:ext cx="340259" cy="342900"/>
          </a:xfrm>
          <a:prstGeom prst="rect">
            <a:avLst/>
          </a:prstGeom>
        </p:spPr>
        <p:txBody>
          <a:bodyPr/>
          <a:lstStyle>
            <a:lvl1pPr>
              <a:defRPr>
                <a:latin typeface="Helvetica Light"/>
                <a:ea typeface="Helvetica Light"/>
                <a:cs typeface="Helvetica Light"/>
                <a:sym typeface="Helvetica Light"/>
              </a:defRPr>
            </a:lvl1pPr>
          </a:lstStyle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项目符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正文级别 1…"/>
          <p:cNvSpPr txBox="1">
            <a:spLocks noGrp="1"/>
          </p:cNvSpPr>
          <p:nvPr>
            <p:ph type="body" idx="1" hasCustomPrompt="1"/>
          </p:nvPr>
        </p:nvSpPr>
        <p:spPr>
          <a:xfrm>
            <a:off x="952500" y="1270000"/>
            <a:ext cx="11099800" cy="7213600"/>
          </a:xfrm>
          <a:prstGeom prst="rect">
            <a:avLst/>
          </a:prstGeom>
        </p:spPr>
        <p:txBody>
          <a:bodyPr/>
          <a:lstStyle/>
          <a:p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76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照片 - 3 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图像"/>
          <p:cNvSpPr>
            <a:spLocks noGrp="1"/>
          </p:cNvSpPr>
          <p:nvPr>
            <p:ph type="pic" sz="quarter" idx="13"/>
          </p:nvPr>
        </p:nvSpPr>
        <p:spPr>
          <a:xfrm>
            <a:off x="6718300" y="5092700"/>
            <a:ext cx="5334000" cy="37719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/>
        </p:txBody>
      </p:sp>
      <p:sp>
        <p:nvSpPr>
          <p:cNvPr id="84" name="图像"/>
          <p:cNvSpPr>
            <a:spLocks noGrp="1"/>
          </p:cNvSpPr>
          <p:nvPr>
            <p:ph type="pic" sz="quarter" idx="14"/>
          </p:nvPr>
        </p:nvSpPr>
        <p:spPr>
          <a:xfrm>
            <a:off x="6718300" y="889000"/>
            <a:ext cx="5334000" cy="37719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/>
        </p:txBody>
      </p:sp>
      <p:sp>
        <p:nvSpPr>
          <p:cNvPr id="85" name="图像"/>
          <p:cNvSpPr>
            <a:spLocks noGrp="1"/>
          </p:cNvSpPr>
          <p:nvPr>
            <p:ph type="pic" sz="half" idx="15"/>
          </p:nvPr>
        </p:nvSpPr>
        <p:spPr>
          <a:xfrm>
            <a:off x="952500" y="889000"/>
            <a:ext cx="5334000" cy="79756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/>
        </p:txBody>
      </p:sp>
      <p:sp>
        <p:nvSpPr>
          <p:cNvPr id="86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引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–Johnny Appleseed"/>
          <p:cNvSpPr txBox="1">
            <a:spLocks noGrp="1"/>
          </p:cNvSpPr>
          <p:nvPr>
            <p:ph type="body" sz="quarter" idx="13" hasCustomPrompt="1"/>
          </p:nvPr>
        </p:nvSpPr>
        <p:spPr>
          <a:xfrm>
            <a:off x="1270000" y="6362700"/>
            <a:ext cx="10464800" cy="461366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buSzTx/>
              <a:buNone/>
              <a:defRPr sz="2400" i="1"/>
            </a:lvl1pPr>
          </a:lstStyle>
          <a:p>
            <a:r>
              <a:t>–Johnny Appleseed</a:t>
            </a:r>
          </a:p>
        </p:txBody>
      </p:sp>
      <p:sp>
        <p:nvSpPr>
          <p:cNvPr id="94" name="“在此键入引文。”"/>
          <p:cNvSpPr txBox="1">
            <a:spLocks noGrp="1"/>
          </p:cNvSpPr>
          <p:nvPr>
            <p:ph type="body" sz="quarter" idx="14" hasCustomPrompt="1"/>
          </p:nvPr>
        </p:nvSpPr>
        <p:spPr>
          <a:xfrm>
            <a:off x="1270000" y="4216400"/>
            <a:ext cx="10464800" cy="711201"/>
          </a:xfrm>
          <a:prstGeom prst="rect">
            <a:avLst/>
          </a:prstGeo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SzTx/>
              <a:buNone/>
              <a:defRPr sz="3400">
                <a:latin typeface="+mn-lt"/>
                <a:ea typeface="+mn-ea"/>
                <a:cs typeface="+mn-cs"/>
                <a:sym typeface="Helvetica Neue Medium"/>
              </a:defRPr>
            </a:lvl1pPr>
          </a:lstStyle>
          <a:p>
            <a:r>
              <a:t>“在此键入引文。”</a:t>
            </a:r>
          </a:p>
        </p:txBody>
      </p:sp>
      <p:sp>
        <p:nvSpPr>
          <p:cNvPr id="95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照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图像"/>
          <p:cNvSpPr>
            <a:spLocks noGrp="1"/>
          </p:cNvSpPr>
          <p:nvPr>
            <p:ph type="pic" idx="13"/>
          </p:nvPr>
        </p:nvSpPr>
        <p:spPr>
          <a:xfrm>
            <a:off x="0" y="0"/>
            <a:ext cx="13004800" cy="97536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/>
        </p:txBody>
      </p:sp>
      <p:sp>
        <p:nvSpPr>
          <p:cNvPr id="103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文本"/>
          <p:cNvSpPr txBox="1">
            <a:spLocks noGrp="1"/>
          </p:cNvSpPr>
          <p:nvPr>
            <p:ph type="title"/>
          </p:nvPr>
        </p:nvSpPr>
        <p:spPr>
          <a:xfrm>
            <a:off x="952500" y="254000"/>
            <a:ext cx="11099800" cy="2159000"/>
          </a:xfrm>
          <a:prstGeom prst="rect">
            <a:avLst/>
          </a:prstGeom>
          <a:ln w="12700">
            <a:miter lim="400000"/>
          </a:ln>
        </p:spPr>
        <p:txBody>
          <a:bodyPr lIns="50800" tIns="50800" rIns="50800" bIns="50800" anchor="ctr">
            <a:normAutofit/>
          </a:bodyPr>
          <a:lstStyle/>
          <a:p>
            <a:r>
              <a:t>标题文本</a:t>
            </a:r>
          </a:p>
        </p:txBody>
      </p:sp>
      <p:sp>
        <p:nvSpPr>
          <p:cNvPr id="3" name="正文级别 1…"/>
          <p:cNvSpPr txBox="1">
            <a:spLocks noGrp="1"/>
          </p:cNvSpPr>
          <p:nvPr>
            <p:ph type="body" idx="1"/>
          </p:nvPr>
        </p:nvSpPr>
        <p:spPr>
          <a:xfrm>
            <a:off x="952500" y="2590800"/>
            <a:ext cx="11099800" cy="6286500"/>
          </a:xfrm>
          <a:prstGeom prst="rect">
            <a:avLst/>
          </a:prstGeom>
          <a:ln w="12700">
            <a:miter lim="400000"/>
          </a:ln>
        </p:spPr>
        <p:txBody>
          <a:bodyPr lIns="50800" tIns="50800" rIns="50800" bIns="50800" anchor="ctr">
            <a:normAutofit/>
          </a:bodyPr>
          <a:lstStyle/>
          <a:p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4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6328884" y="9296400"/>
            <a:ext cx="340259" cy="324306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>
            <a:spAutoFit/>
          </a:bodyPr>
          <a:lstStyle>
            <a:lvl1pPr>
              <a:defRPr sz="1600" b="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fld id="{86CB4B4D-7CA3-9044-876B-883B54F8677D}" type="slidenum">
              <a:rPr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ransition spd="med"/>
  <p:txStyles>
    <p:title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80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1pPr>
      <a:lvl2pPr marL="0" marR="0" indent="228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80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2pPr>
      <a:lvl3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80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3pPr>
      <a:lvl4pPr marL="0" marR="0" indent="685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80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4pPr>
      <a:lvl5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80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5pPr>
      <a:lvl6pPr marL="0" marR="0" indent="1143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80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6pPr>
      <a:lvl7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80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7pPr>
      <a:lvl8pPr marL="0" marR="0" indent="1600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80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8pPr>
      <a:lvl9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8000" b="0" i="0" u="none" strike="noStrike" cap="none" spc="0" baseline="0">
          <a:ln>
            <a:noFill/>
          </a:ln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9pPr>
    </p:titleStyle>
    <p:bodyStyle>
      <a:lvl1pPr marL="444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1pPr>
      <a:lvl2pPr marL="889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2pPr>
      <a:lvl3pPr marL="1333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3pPr>
      <a:lvl4pPr marL="1778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4pPr>
      <a:lvl5pPr marL="2222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5pPr>
      <a:lvl6pPr marL="2667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6pPr>
      <a:lvl7pPr marL="3111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7pPr>
      <a:lvl8pPr marL="3556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8pPr>
      <a:lvl9pPr marL="4000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6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1pPr>
      <a:lvl2pPr marL="0" marR="0" indent="228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6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2pPr>
      <a:lvl3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6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3pPr>
      <a:lvl4pPr marL="0" marR="0" indent="685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6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4pPr>
      <a:lvl5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6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5pPr>
      <a:lvl6pPr marL="0" marR="0" indent="1143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6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6pPr>
      <a:lvl7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6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7pPr>
      <a:lvl8pPr marL="0" marR="0" indent="1600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6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8pPr>
      <a:lvl9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6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GIF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5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0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1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13.png"/><Relationship Id="rId1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6.xml"/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1.xml"/><Relationship Id="rId1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1.xml"/><Relationship Id="rId1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CNN"/>
          <p:cNvSpPr txBox="1">
            <a:spLocks noGrp="1"/>
          </p:cNvSpPr>
          <p:nvPr>
            <p:ph type="ctrTitle"/>
          </p:nvPr>
        </p:nvSpPr>
        <p:spPr>
          <a:xfrm>
            <a:off x="1270000" y="3185618"/>
            <a:ext cx="10464800" cy="1754681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US" sz="5400" b="1" dirty="0"/>
              <a:t>Convolutional neural network for Image recognition</a:t>
            </a:r>
            <a:endParaRPr sz="5400" b="1" dirty="0"/>
          </a:p>
        </p:txBody>
      </p:sp>
      <p:sp>
        <p:nvSpPr>
          <p:cNvPr id="2" name="TextBox 1"/>
          <p:cNvSpPr txBox="1"/>
          <p:nvPr/>
        </p:nvSpPr>
        <p:spPr>
          <a:xfrm>
            <a:off x="3107690" y="5885498"/>
            <a:ext cx="7501890" cy="268668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sz="28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Bahnschrift SemiBold" panose="020B0502040204020203" charset="0"/>
                <a:ea typeface="Helvetica Neue"/>
                <a:cs typeface="Bahnschrift SemiBold" panose="020B0502040204020203" charset="0"/>
                <a:sym typeface="Helvetica Neue"/>
              </a:rPr>
              <a:t>Anish. M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Bahnschrift SemiBold" panose="020B0502040204020203" charset="0"/>
              <a:ea typeface="Helvetica Neue"/>
              <a:cs typeface="Bahnschrift SemiBold" panose="020B0502040204020203" charset="0"/>
              <a:sym typeface="Helvetica Neue"/>
            </a:endParaRPr>
          </a:p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Bahnschrift SemiBold" panose="020B0502040204020203" charset="0"/>
              <a:ea typeface="Helvetica Neue"/>
              <a:cs typeface="Bahnschrift SemiBold" panose="020B0502040204020203" charset="0"/>
              <a:sym typeface="Helvetica Neue"/>
            </a:endParaRPr>
          </a:p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sz="28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Bahnschrift SemiBold" panose="020B0502040204020203" charset="0"/>
                <a:ea typeface="Helvetica Neue"/>
                <a:cs typeface="Bahnschrift SemiBold" panose="020B0502040204020203" charset="0"/>
                <a:sym typeface="Helvetica Neue"/>
              </a:rPr>
              <a:t>DEPARTMENT OF ARTIFICIAL INTELLIGENCE AND DATA SCIENCE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Bahnschrift SemiBold" panose="020B0502040204020203" charset="0"/>
              <a:ea typeface="Helvetica Neue"/>
              <a:cs typeface="Bahnschrift SemiBold" panose="020B0502040204020203" charset="0"/>
              <a:sym typeface="Helvetica Neue"/>
            </a:endParaRPr>
          </a:p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sz="28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Bahnschrift SemiBold" panose="020B0502040204020203" charset="0"/>
                <a:ea typeface="Helvetica Neue"/>
                <a:cs typeface="Bahnschrift SemiBold" panose="020B0502040204020203" charset="0"/>
                <a:sym typeface="Helvetica Neue"/>
              </a:rPr>
              <a:t>DR.MAHALINGAM COLLEGE OF ENGINEERING AND TECHNOLOGY,POLLACHI</a:t>
            </a:r>
            <a:endParaRPr kumimoji="0" lang="en-US" sz="28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Bahnschrift SemiBold" panose="020B0502040204020203" charset="0"/>
              <a:ea typeface="Helvetica Neue"/>
              <a:cs typeface="Bahnschrift SemiBold" panose="020B0502040204020203" charset="0"/>
              <a:sym typeface="Helvetica Neue"/>
            </a:endParaRPr>
          </a:p>
        </p:txBody>
      </p:sp>
      <p:pic>
        <p:nvPicPr>
          <p:cNvPr id="3" name="Picture 2" descr="OIP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60940" y="0"/>
            <a:ext cx="2162175" cy="1714500"/>
          </a:xfrm>
          <a:prstGeom prst="rect">
            <a:avLst/>
          </a:prstGeom>
        </p:spPr>
      </p:pic>
      <p:sp>
        <p:nvSpPr>
          <p:cNvPr id="6" name="Half Frame 5"/>
          <p:cNvSpPr/>
          <p:nvPr/>
        </p:nvSpPr>
        <p:spPr>
          <a:xfrm>
            <a:off x="-13335" y="-20320"/>
            <a:ext cx="1017270" cy="793750"/>
          </a:xfrm>
          <a:prstGeom prst="halfFrame">
            <a:avLst/>
          </a:prstGeom>
          <a:solidFill>
            <a:srgbClr val="FC6102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50800" tIns="50800" rIns="50800" bIns="50800" numCol="1" spcCol="38100" rtlCol="0" anchor="ctr" forceAA="0">
            <a:spAutoFit/>
          </a:bodyPr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en-US" sz="22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sp>
        <p:nvSpPr>
          <p:cNvPr id="13" name="Half Frame 12"/>
          <p:cNvSpPr/>
          <p:nvPr/>
        </p:nvSpPr>
        <p:spPr>
          <a:xfrm rot="10800000">
            <a:off x="11987530" y="8959850"/>
            <a:ext cx="1017270" cy="793750"/>
          </a:xfrm>
          <a:prstGeom prst="halfFrame">
            <a:avLst/>
          </a:prstGeom>
          <a:solidFill>
            <a:srgbClr val="FC6102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50800" tIns="50800" rIns="50800" bIns="50800" numCol="1" spcCol="38100" rtlCol="0" anchor="ctr" forceAA="0">
            <a:spAutoFit/>
          </a:bodyPr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en-US" sz="22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168400" y="787400"/>
            <a:ext cx="10464800" cy="1422400"/>
          </a:xfrm>
        </p:spPr>
        <p:txBody>
          <a:bodyPr>
            <a:normAutofit/>
          </a:bodyPr>
          <a:lstStyle/>
          <a:p>
            <a:r>
              <a:rPr lang="en-US" altLang="zh-CN" sz="4000" dirty="0"/>
              <a:t>Dense neural network and Convolutional neural network</a:t>
            </a:r>
            <a:endParaRPr lang="zh-CN" altLang="en-US" sz="4000" dirty="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4305" y="3272076"/>
            <a:ext cx="12076190" cy="3819048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270000" y="863600"/>
            <a:ext cx="10464800" cy="1422400"/>
          </a:xfrm>
        </p:spPr>
        <p:txBody>
          <a:bodyPr>
            <a:normAutofit/>
          </a:bodyPr>
          <a:lstStyle/>
          <a:p>
            <a:r>
              <a:rPr lang="en-US" altLang="zh-CN" sz="4000" dirty="0"/>
              <a:t>A simple CNN structure</a:t>
            </a:r>
            <a:endParaRPr lang="zh-CN" altLang="en-US" sz="4000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"/>
          </p:nvPr>
        </p:nvSpPr>
        <p:spPr>
          <a:xfrm>
            <a:off x="1270000" y="8153400"/>
            <a:ext cx="10464800" cy="1485900"/>
          </a:xfrm>
        </p:spPr>
        <p:txBody>
          <a:bodyPr>
            <a:normAutofit/>
          </a:bodyPr>
          <a:lstStyle/>
          <a:p>
            <a:pPr algn="l"/>
            <a:r>
              <a:rPr lang="en-US" altLang="zh-CN" sz="1800" dirty="0"/>
              <a:t>CONV: Convolutional kernel layer</a:t>
            </a:r>
            <a:endParaRPr lang="en-US" altLang="zh-CN" sz="1800" dirty="0"/>
          </a:p>
          <a:p>
            <a:pPr algn="l"/>
            <a:r>
              <a:rPr lang="en-US" altLang="zh-CN" sz="1800" dirty="0"/>
              <a:t>RELU: Activation function</a:t>
            </a:r>
            <a:endParaRPr lang="en-US" altLang="zh-CN" sz="1800" dirty="0"/>
          </a:p>
          <a:p>
            <a:pPr algn="l"/>
            <a:r>
              <a:rPr lang="en-US" altLang="zh-CN" sz="1800" dirty="0"/>
              <a:t>POOL: Dimension reduction layer</a:t>
            </a:r>
            <a:endParaRPr lang="en-US" altLang="zh-CN" sz="1800" dirty="0"/>
          </a:p>
          <a:p>
            <a:pPr algn="l"/>
            <a:r>
              <a:rPr lang="en-US" altLang="zh-CN" sz="1800" dirty="0"/>
              <a:t>FC: Fully connection layer</a:t>
            </a:r>
            <a:endParaRPr lang="zh-CN" altLang="en-US" sz="1800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543" y="2562557"/>
            <a:ext cx="11085714" cy="5314286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270000" y="952500"/>
            <a:ext cx="10464800" cy="1422400"/>
          </a:xfrm>
        </p:spPr>
        <p:txBody>
          <a:bodyPr/>
          <a:lstStyle/>
          <a:p>
            <a:r>
              <a:rPr lang="en-US" altLang="zh-CN" dirty="0"/>
              <a:t>Convolutional kernel</a:t>
            </a:r>
            <a:endParaRPr lang="zh-CN" altLang="en-US" dirty="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3562" y="2994025"/>
            <a:ext cx="4714875" cy="51625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8141615" y="3586738"/>
            <a:ext cx="2766783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24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This is a gif image</a:t>
            </a:r>
            <a:endParaRPr kumimoji="0" lang="zh-CN" altLang="en-US" sz="24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Convolutional kerne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Convolutional kernel</a:t>
            </a:r>
            <a:endParaRPr dirty="0"/>
          </a:p>
        </p:txBody>
      </p:sp>
      <p:sp>
        <p:nvSpPr>
          <p:cNvPr id="2" name="文本框 1"/>
          <p:cNvSpPr txBox="1"/>
          <p:nvPr/>
        </p:nvSpPr>
        <p:spPr>
          <a:xfrm>
            <a:off x="9410700" y="4313893"/>
            <a:ext cx="2641600" cy="268791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r>
              <a:rPr lang="en-US" altLang="zh-CN" b="0" dirty="0"/>
              <a:t>Padding on the input volume with zeros in such way that the conv layer does not alter the spatial dimensions of the input</a:t>
            </a:r>
            <a:endParaRPr kumimoji="0" lang="zh-CN" altLang="en-US" sz="24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2050" name="Picture 2" descr="https://timgsa.baidu.com/timg?image&amp;quality=80&amp;size=b9999_10000&amp;sec=1512249322478&amp;di=69a4ec8266d1bbe18d8a175f759271e2&amp;imgtype=0&amp;src=http%3A%2F%2Fimgtec.eetrend.com%2Fsites%2Fimgtec.eetrend.com%2Ffiles%2F201610%2Fblog%2F8795-23429-1.png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98663" y="2413000"/>
            <a:ext cx="6534923" cy="5156200"/>
          </a:xfrm>
          <a:prstGeom prst="rect">
            <a:avLst/>
          </a:prstGeom>
          <a:noFill/>
        </p:spPr>
      </p:pic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52500" y="254000"/>
            <a:ext cx="11099800" cy="2159000"/>
          </a:xfrm>
        </p:spPr>
        <p:txBody>
          <a:bodyPr>
            <a:normAutofit/>
          </a:bodyPr>
          <a:lstStyle/>
          <a:p>
            <a:r>
              <a:rPr lang="en-US" altLang="zh-CN" sz="4000" b="1" dirty="0"/>
              <a:t>Rectified linear unit</a:t>
            </a:r>
            <a:r>
              <a:rPr lang="zh-CN" altLang="en-US" sz="4000" b="1" dirty="0"/>
              <a:t>，</a:t>
            </a:r>
            <a:r>
              <a:rPr lang="en-US" altLang="zh-CN" sz="4000" b="1" dirty="0" err="1"/>
              <a:t>ReLU</a:t>
            </a:r>
            <a:endParaRPr lang="en-US" altLang="zh-CN" sz="4000" b="1" dirty="0"/>
          </a:p>
        </p:txBody>
      </p:sp>
      <p:sp>
        <p:nvSpPr>
          <p:cNvPr id="5" name="文本框 4"/>
          <p:cNvSpPr txBox="1"/>
          <p:nvPr/>
        </p:nvSpPr>
        <p:spPr>
          <a:xfrm>
            <a:off x="1700865" y="2634238"/>
            <a:ext cx="357470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24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endParaRPr kumimoji="0" lang="zh-CN" altLang="en-US" sz="24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9600" y="2660676"/>
            <a:ext cx="7879458" cy="666724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7795" y="3575076"/>
            <a:ext cx="5972708" cy="5062319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Pooling layer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6209" y="3057819"/>
            <a:ext cx="11952381" cy="4704762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ool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dirty="0"/>
              <a:t>Pooling</a:t>
            </a:r>
            <a:endParaRPr dirty="0"/>
          </a:p>
        </p:txBody>
      </p:sp>
      <p:sp>
        <p:nvSpPr>
          <p:cNvPr id="127" name="正文"/>
          <p:cNvSpPr txBox="1">
            <a:spLocks noGrp="1"/>
          </p:cNvSpPr>
          <p:nvPr>
            <p:ph type="body" idx="1"/>
          </p:nvPr>
        </p:nvSpPr>
        <p:spPr>
          <a:xfrm>
            <a:off x="952500" y="2743200"/>
            <a:ext cx="11099800" cy="6286500"/>
          </a:xfrm>
          <a:prstGeom prst="rect">
            <a:avLst/>
          </a:prstGeom>
        </p:spPr>
        <p:txBody>
          <a:bodyPr/>
          <a:lstStyle/>
          <a:p>
            <a:endParaRPr dirty="0"/>
          </a:p>
        </p:txBody>
      </p:sp>
      <p:pic>
        <p:nvPicPr>
          <p:cNvPr id="128" name="bhXRN.png" descr="bhXR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1467" y="2743199"/>
            <a:ext cx="8993833" cy="6406321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dirty="0"/>
              <a:t>MNIST dataset</a:t>
            </a:r>
            <a:endParaRPr lang="zh-CN" altLang="en-US" dirty="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0609" y="2593182"/>
            <a:ext cx="6630591" cy="6630591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430609" y="2794178"/>
            <a:ext cx="5080000" cy="416524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algn="l"/>
            <a:r>
              <a:rPr lang="en-US" altLang="zh-CN" b="0" dirty="0"/>
              <a:t>The MNIST database of handwritten digits,</a:t>
            </a:r>
            <a:endParaRPr lang="en-US" altLang="zh-CN" b="0" dirty="0"/>
          </a:p>
          <a:p>
            <a:pPr algn="l"/>
            <a:r>
              <a:rPr lang="en-US" altLang="zh-CN" b="0" dirty="0"/>
              <a:t> available from this page, </a:t>
            </a:r>
            <a:endParaRPr lang="en-US" altLang="zh-CN" b="0" dirty="0"/>
          </a:p>
          <a:p>
            <a:pPr algn="l"/>
            <a:r>
              <a:rPr lang="en-US" altLang="zh-CN" b="0" dirty="0"/>
              <a:t>has a training set of 60,000 examples, and a test set of 10,000 examples.</a:t>
            </a:r>
            <a:endParaRPr lang="en-US" altLang="zh-CN" b="0" dirty="0"/>
          </a:p>
          <a:p>
            <a:pPr algn="l"/>
            <a:r>
              <a:rPr lang="en-US" altLang="zh-CN" b="0" dirty="0"/>
              <a:t> It is a subset of a larger set available from NIST. </a:t>
            </a:r>
            <a:endParaRPr lang="en-US" altLang="zh-CN" b="0" dirty="0"/>
          </a:p>
          <a:p>
            <a:pPr algn="l"/>
            <a:r>
              <a:rPr lang="en-US" altLang="zh-CN" b="0" dirty="0"/>
              <a:t>The digits have been size-normalized and centered in a fixed-size image.</a:t>
            </a:r>
            <a:endParaRPr kumimoji="0" lang="zh-CN" altLang="en-US" sz="24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dirty="0"/>
              <a:t>LeNet-5 for MNIST</a:t>
            </a:r>
            <a:endParaRPr lang="zh-CN" altLang="en-US" dirty="0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595963"/>
            <a:ext cx="13004800" cy="5603074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CIFAR10 state of ar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sz="4800" dirty="0"/>
              <a:t>CIFAR10</a:t>
            </a:r>
            <a:r>
              <a:rPr lang="en-US" altLang="zh-CN" sz="4800" dirty="0"/>
              <a:t> dataset and </a:t>
            </a:r>
            <a:r>
              <a:rPr sz="4800" dirty="0"/>
              <a:t> state of </a:t>
            </a:r>
            <a:r>
              <a:rPr lang="en-US" sz="4800" dirty="0"/>
              <a:t>the </a:t>
            </a:r>
            <a:r>
              <a:rPr sz="4800" dirty="0"/>
              <a:t>art</a:t>
            </a:r>
            <a:endParaRPr sz="4800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500" y="3620145"/>
            <a:ext cx="6723809" cy="5161905"/>
          </a:xfrm>
          <a:prstGeom prst="rect">
            <a:avLst/>
          </a:prstGeom>
        </p:spPr>
      </p:pic>
      <p:pic>
        <p:nvPicPr>
          <p:cNvPr id="132" name="图像" descr="图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0" y="3419797"/>
            <a:ext cx="3683000" cy="55626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5" name="文本框 4"/>
          <p:cNvSpPr txBox="1"/>
          <p:nvPr/>
        </p:nvSpPr>
        <p:spPr>
          <a:xfrm>
            <a:off x="638615" y="2075142"/>
            <a:ext cx="11727569" cy="84125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r>
              <a:rPr lang="en-US" altLang="zh-CN" b="0" dirty="0"/>
              <a:t>The CIFAR-10 dataset consists of 60000 32x32 color images in 10 classes, </a:t>
            </a:r>
            <a:endParaRPr lang="en-US" altLang="zh-CN" b="0" dirty="0"/>
          </a:p>
          <a:p>
            <a:r>
              <a:rPr lang="en-US" altLang="zh-CN" b="0" dirty="0"/>
              <a:t>with 6000 images per class. There are 50000 training images and 10000 test images.</a:t>
            </a:r>
            <a:endParaRPr kumimoji="0" lang="zh-CN" altLang="en-US" sz="24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“VGG16”的图片搜索结果"/>
          <p:cNvPicPr>
            <a:picLocks noChangeAspect="1" noChangeArrowheads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-1875077" y="3310178"/>
            <a:ext cx="7785102" cy="2155348"/>
          </a:xfrm>
          <a:prstGeom prst="rect">
            <a:avLst/>
          </a:prstGeom>
          <a:noFill/>
        </p:spPr>
      </p:pic>
      <p:pic>
        <p:nvPicPr>
          <p:cNvPr id="3076" name="Picture 4" descr="“GooleNet”的图片搜索结果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3454" y="590552"/>
            <a:ext cx="2089009" cy="7594600"/>
          </a:xfrm>
          <a:prstGeom prst="rect">
            <a:avLst/>
          </a:prstGeom>
          <a:noFill/>
        </p:spPr>
      </p:pic>
      <p:pic>
        <p:nvPicPr>
          <p:cNvPr id="3078" name="Picture 6" descr="“Resnet”的图片搜索结果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6773386" y="3038750"/>
            <a:ext cx="7785104" cy="2530339"/>
          </a:xfrm>
          <a:prstGeom prst="rect">
            <a:avLst/>
          </a:prstGeom>
          <a:noFill/>
        </p:spPr>
      </p:pic>
      <p:sp>
        <p:nvSpPr>
          <p:cNvPr id="4" name="文本框 3"/>
          <p:cNvSpPr txBox="1"/>
          <p:nvPr/>
        </p:nvSpPr>
        <p:spPr>
          <a:xfrm>
            <a:off x="1401921" y="8870308"/>
            <a:ext cx="1231106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24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VGG-16</a:t>
            </a:r>
            <a:endParaRPr kumimoji="0" lang="zh-CN" altLang="en-US" sz="24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5410199" y="8918254"/>
            <a:ext cx="1882263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2400" b="1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GoogleNet</a:t>
            </a:r>
            <a:endParaRPr kumimoji="0" lang="zh-CN" altLang="en-US" sz="24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9894808" y="8961692"/>
            <a:ext cx="1165384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2400" b="1" i="0" u="none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ResNet</a:t>
            </a:r>
            <a:endParaRPr kumimoji="0" lang="zh-CN" altLang="en-US" sz="24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Picture Placeholder 5" descr="lqgmpiyn"/>
          <p:cNvPicPr>
            <a:picLocks noChangeAspect="1"/>
          </p:cNvPicPr>
          <p:nvPr>
            <p:ph type="pic" idx="13"/>
          </p:nvPr>
        </p:nvPicPr>
        <p:blipFill>
          <a:blip r:embed="rId1"/>
          <a:stretch>
            <a:fillRect/>
          </a:stretch>
        </p:blipFill>
        <p:spPr>
          <a:xfrm>
            <a:off x="2734945" y="2670175"/>
            <a:ext cx="7534275" cy="5981700"/>
          </a:xfrm>
          <a:prstGeom prst="rect">
            <a:avLst/>
          </a:prstGeom>
        </p:spPr>
      </p:pic>
      <p:sp>
        <p:nvSpPr>
          <p:cNvPr id="7" name="Text Box 6"/>
          <p:cNvSpPr txBox="1"/>
          <p:nvPr/>
        </p:nvSpPr>
        <p:spPr>
          <a:xfrm>
            <a:off x="1940560" y="770573"/>
            <a:ext cx="9387205" cy="84010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50800" tIns="50800" rIns="50800" bIns="50800" numCol="1" spcCol="38100" rtlCol="0" anchor="ctr" forceAA="0">
            <a:spAutoFit/>
          </a:bodyPr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sz="480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Bahnschrift SemiLight SemiCondensed" panose="020B0502040204020203" charset="0"/>
                <a:ea typeface="Helvetica Neue"/>
                <a:cs typeface="Bahnschrift SemiLight SemiCondensed" panose="020B0502040204020203" charset="0"/>
                <a:sym typeface="Helvetica Neue"/>
              </a:rPr>
              <a:t>Recurrent Neural Network</a:t>
            </a:r>
            <a:endParaRPr kumimoji="0" lang="en-US" sz="480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Bahnschrift SemiLight SemiCondensed" panose="020B0502040204020203" charset="0"/>
              <a:ea typeface="Helvetica Neue"/>
              <a:cs typeface="Bahnschrift SemiLight SemiCondensed" panose="020B0502040204020203" charset="0"/>
              <a:sym typeface="Helvetica Neue"/>
            </a:endParaRPr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7" name="Picture Placeholder 6" descr="Architecture-of-the-LSTM-model-and-LSTM-cell-structure-Wu-and-Lin-2019"/>
          <p:cNvPicPr>
            <a:picLocks noChangeAspect="1"/>
          </p:cNvPicPr>
          <p:nvPr>
            <p:ph type="pic" idx="13"/>
          </p:nvPr>
        </p:nvPicPr>
        <p:blipFill>
          <a:blip r:embed="rId1"/>
          <a:stretch>
            <a:fillRect/>
          </a:stretch>
        </p:blipFill>
        <p:spPr>
          <a:xfrm>
            <a:off x="1935480" y="2242185"/>
            <a:ext cx="9133840" cy="7002780"/>
          </a:xfrm>
          <a:prstGeom prst="rect">
            <a:avLst/>
          </a:prstGeom>
        </p:spPr>
      </p:pic>
      <p:sp>
        <p:nvSpPr>
          <p:cNvPr id="8" name="Text Box 7"/>
          <p:cNvSpPr txBox="1"/>
          <p:nvPr/>
        </p:nvSpPr>
        <p:spPr>
          <a:xfrm>
            <a:off x="2693670" y="485458"/>
            <a:ext cx="9122410" cy="84010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50800" tIns="50800" rIns="50800" bIns="50800" numCol="1" spcCol="38100" rtlCol="0" anchor="ctr" forceAA="0">
            <a:spAutoFit/>
          </a:bodyPr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sz="4800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Georgia" panose="02040502050405020303" charset="0"/>
                <a:ea typeface="Helvetica Neue"/>
                <a:cs typeface="Georgia" panose="02040502050405020303" charset="0"/>
                <a:sym typeface="Helvetica Neue"/>
              </a:rPr>
              <a:t>Long Short-Term Memory</a:t>
            </a:r>
            <a:endParaRPr kumimoji="0" lang="en-US" sz="4800" b="1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Georgia" panose="02040502050405020303" charset="0"/>
              <a:ea typeface="Helvetica Neue"/>
              <a:cs typeface="Georgia" panose="02040502050405020303" charset="0"/>
              <a:sym typeface="Helvetica Neue"/>
            </a:endParaRPr>
          </a:p>
        </p:txBody>
      </p:sp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Text Box 4"/>
          <p:cNvSpPr txBox="1"/>
          <p:nvPr/>
        </p:nvSpPr>
        <p:spPr>
          <a:xfrm>
            <a:off x="2219325" y="-21907"/>
            <a:ext cx="8897620" cy="84010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50800" tIns="50800" rIns="50800" bIns="50800" numCol="1" spcCol="38100" rtlCol="0" anchor="ctr" forceAA="0">
            <a:spAutoFit/>
          </a:bodyPr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sz="4800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 panose="020F0502020204030204" charset="0"/>
                <a:ea typeface="Helvetica Neue"/>
                <a:cs typeface="Calibri" panose="020F0502020204030204" charset="0"/>
                <a:sym typeface="Helvetica Neue"/>
              </a:rPr>
              <a:t>Recurrent Neural Networks RNNs</a:t>
            </a:r>
            <a:endParaRPr kumimoji="0" lang="en-US" sz="4800" b="1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alibri" panose="020F0502020204030204" charset="0"/>
              <a:ea typeface="Helvetica Neue"/>
              <a:cs typeface="Calibri" panose="020F0502020204030204" charset="0"/>
              <a:sym typeface="Helvetica Neue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281305" y="1151573"/>
            <a:ext cx="12441555" cy="327660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50800" tIns="50800" rIns="50800" bIns="50800" numCol="1" spcCol="38100" rtlCol="0" anchor="ctr" forceAA="0">
            <a:spAutoFit/>
          </a:bodyPr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 Black" panose="020B0A04020102020204" charset="0"/>
                <a:ea typeface="Helvetica Neue"/>
                <a:cs typeface="Arial Black" panose="020B0A04020102020204" charset="0"/>
                <a:sym typeface="Helvetica Neue"/>
              </a:rPr>
              <a:t>1</a:t>
            </a:r>
            <a:r>
              <a:rPr kumimoji="0" lang="en-US" sz="2400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.Recurrent layer feedback loops are a feature of RNNs. They are able to keep</a:t>
            </a:r>
            <a:endParaRPr kumimoji="0" lang="en-US" sz="2400" b="1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lang="en-US">
                <a:sym typeface="Helvetica Neue"/>
              </a:rPr>
              <a:t>information in "memory" as a result.</a:t>
            </a:r>
            <a:endParaRPr lang="en-US">
              <a:sym typeface="Helvetica Neue"/>
            </a:endParaRP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en-US" sz="2400" b="1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indent="0" algn="just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sz="2400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  </a:t>
            </a:r>
            <a:r>
              <a:rPr kumimoji="0" lang="en-US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 Black" panose="020B0A04020102020204" charset="0"/>
                <a:ea typeface="Helvetica Neue"/>
                <a:cs typeface="Arial Black" panose="020B0A04020102020204" charset="0"/>
                <a:sym typeface="Helvetica Neue"/>
              </a:rPr>
              <a:t>2</a:t>
            </a:r>
            <a:r>
              <a:rPr kumimoji="0" lang="en-US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.</a:t>
            </a:r>
            <a:r>
              <a:rPr kumimoji="0" lang="en-US" sz="2400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Standard RNNs might be difficult to train to address issues that call for                       learning long-term temporal dependencies.</a:t>
            </a:r>
            <a:endParaRPr kumimoji="0" lang="en-US" sz="2400" b="1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en-US" sz="2400" b="1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en-US" sz="2400" b="1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indent="0" algn="l" defTabSz="584200" rtl="0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sz="2400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  </a:t>
            </a:r>
            <a:r>
              <a:rPr kumimoji="0" lang="en-US" sz="2400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 Black" panose="020B0A04020102020204" charset="0"/>
                <a:ea typeface="Helvetica Neue"/>
                <a:cs typeface="Arial Black" panose="020B0A04020102020204" charset="0"/>
                <a:sym typeface="Helvetica Neue"/>
              </a:rPr>
              <a:t> 3</a:t>
            </a:r>
            <a:r>
              <a:rPr kumimoji="0" lang="en-US" sz="2400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.This is due to the loss function's gradient's exponential decrease over time (called the vanishing gradient problem).</a:t>
            </a:r>
            <a:endParaRPr kumimoji="0" lang="en-US" sz="2400" b="1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9" name="Text Box 8"/>
          <p:cNvSpPr txBox="1"/>
          <p:nvPr/>
        </p:nvSpPr>
        <p:spPr>
          <a:xfrm>
            <a:off x="2219325" y="4678363"/>
            <a:ext cx="9100820" cy="71691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50800" tIns="50800" rIns="50800" bIns="50800" numCol="1" spcCol="38100" rtlCol="0" anchor="ctr" forceAA="0">
            <a:spAutoFit/>
          </a:bodyPr>
          <a:p>
            <a:pPr marL="0" marR="0" indent="0" algn="just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sz="4000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Georgia" panose="02040502050405020303" charset="0"/>
                <a:ea typeface="Helvetica Neue"/>
                <a:cs typeface="Georgia" panose="02040502050405020303" charset="0"/>
                <a:sym typeface="Helvetica Neue"/>
              </a:rPr>
              <a:t>Long Short-Term Memory LSTM</a:t>
            </a:r>
            <a:endParaRPr kumimoji="0" lang="en-US" sz="4000" b="1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Georgia" panose="02040502050405020303" charset="0"/>
              <a:ea typeface="Helvetica Neue"/>
              <a:cs typeface="Georgia" panose="02040502050405020303" charset="0"/>
              <a:sym typeface="Helvetica Neue"/>
            </a:endParaRPr>
          </a:p>
        </p:txBody>
      </p:sp>
      <p:sp>
        <p:nvSpPr>
          <p:cNvPr id="10" name="Text Box 9"/>
          <p:cNvSpPr txBox="1"/>
          <p:nvPr/>
        </p:nvSpPr>
        <p:spPr>
          <a:xfrm>
            <a:off x="240665" y="5645468"/>
            <a:ext cx="12482195" cy="379476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50800" tIns="50800" rIns="50800" bIns="50800" numCol="1" spcCol="38100" rtlCol="0" anchor="ctr" forceAA="0">
            <a:spAutoFit/>
          </a:bodyPr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sz="2400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kumimoji="0" lang="en-US" sz="2400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 Black" panose="020B0A04020102020204" charset="0"/>
                <a:ea typeface="Helvetica Neue"/>
                <a:cs typeface="Arial Black" panose="020B0A04020102020204" charset="0"/>
                <a:sym typeface="Helvetica Neue"/>
              </a:rPr>
              <a:t>1</a:t>
            </a:r>
            <a:r>
              <a:rPr kumimoji="0" lang="en-US" sz="2400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.A form of RNN called LSTM networks employs special units in addition to conventional units.</a:t>
            </a:r>
            <a:endParaRPr kumimoji="0" lang="en-US" sz="2400" b="1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en-US" sz="2400" b="1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sz="2400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   </a:t>
            </a:r>
            <a:r>
              <a:rPr kumimoji="0" lang="en-US" sz="2400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 Black" panose="020B0A04020102020204" charset="0"/>
                <a:ea typeface="Helvetica Neue"/>
                <a:cs typeface="Arial Black" panose="020B0A04020102020204" charset="0"/>
                <a:sym typeface="Helvetica Neue"/>
              </a:rPr>
              <a:t> 2</a:t>
            </a:r>
            <a:r>
              <a:rPr kumimoji="0" lang="en-US" sz="2400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.A "memory cell" found in LSTM units is capable of storing data in memory for extended periods of time. They can learn longer-term dependencies thanks to this memory cell.</a:t>
            </a:r>
            <a:endParaRPr kumimoji="0" lang="en-US" sz="2400" b="1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en-US" sz="2400" b="1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sz="2400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    </a:t>
            </a:r>
            <a:r>
              <a:rPr kumimoji="0" lang="en-US" sz="2400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Arial Black" panose="020B0A04020102020204" charset="0"/>
                <a:ea typeface="Helvetica Neue"/>
                <a:cs typeface="Arial Black" panose="020B0A04020102020204" charset="0"/>
                <a:sym typeface="Helvetica Neue"/>
              </a:rPr>
              <a:t>3</a:t>
            </a:r>
            <a:r>
              <a:rPr kumimoji="0" lang="en-US" sz="2400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.By adding new gates, such as input and forget gates, which improve control over the gradient flow and better preserve "long-range dependencies," LSTMs address the disappearing and expanding gradient difficulties.</a:t>
            </a:r>
            <a:endParaRPr kumimoji="0" lang="en-US" sz="2400" b="1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Text Box 4"/>
          <p:cNvSpPr txBox="1"/>
          <p:nvPr/>
        </p:nvSpPr>
        <p:spPr>
          <a:xfrm>
            <a:off x="2837180" y="3842068"/>
            <a:ext cx="7981950" cy="1578610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50800" tIns="50800" rIns="50800" bIns="50800" numCol="1" spcCol="38100" rtlCol="0" anchor="ctr" forceAA="0">
            <a:spAutoFit/>
          </a:bodyPr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sz="9600" i="0" u="none" strike="noStrike" cap="none" spc="0" normalizeH="0" baseline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THANK YOU</a:t>
            </a:r>
            <a:endParaRPr kumimoji="0" lang="en-US" sz="960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" name="Half Frame 6"/>
          <p:cNvSpPr/>
          <p:nvPr/>
        </p:nvSpPr>
        <p:spPr>
          <a:xfrm>
            <a:off x="-13335" y="-20320"/>
            <a:ext cx="1017270" cy="793750"/>
          </a:xfrm>
          <a:prstGeom prst="halfFrame">
            <a:avLst/>
          </a:prstGeom>
          <a:solidFill>
            <a:srgbClr val="FC6102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50800" tIns="50800" rIns="50800" bIns="50800" numCol="1" spcCol="38100" rtlCol="0" anchor="ctr" forceAA="0">
            <a:spAutoFit/>
          </a:bodyPr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en-US" sz="22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  <p:sp>
        <p:nvSpPr>
          <p:cNvPr id="13" name="Half Frame 12"/>
          <p:cNvSpPr/>
          <p:nvPr/>
        </p:nvSpPr>
        <p:spPr>
          <a:xfrm rot="10800000">
            <a:off x="11987530" y="8959850"/>
            <a:ext cx="1017270" cy="793750"/>
          </a:xfrm>
          <a:prstGeom prst="halfFrame">
            <a:avLst/>
          </a:prstGeom>
          <a:solidFill>
            <a:srgbClr val="FC6102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50800" tIns="50800" rIns="50800" bIns="50800" numCol="1" spcCol="38100" rtlCol="0" anchor="ctr" forceAA="0">
            <a:spAutoFit/>
          </a:bodyPr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en-US" sz="22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+mn-ea"/>
              <a:cs typeface="+mn-cs"/>
              <a:sym typeface="Helvetica Neue Medium"/>
            </a:endParaRP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6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/>
        <a:ea typeface="Helvetica Neue Medium"/>
        <a:cs typeface="Helvetica Neue Medium"/>
      </a:majorFont>
      <a:minorFont>
        <a:latin typeface="Helvetica Neue Medium"/>
        <a:ea typeface="Helvetica Neue Medium"/>
        <a:cs typeface="Helvetica Neue Medium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12700" cap="flat">
          <a:noFill/>
          <a:miter lim="400000"/>
        </a:ln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2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24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Helvetica Neue"/>
            <a:ea typeface="Helvetica Neue"/>
            <a:cs typeface="Helvetica Neue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6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 Medium"/>
        <a:ea typeface="Helvetica Neue Medium"/>
        <a:cs typeface="Helvetica Neue Medium"/>
      </a:majorFont>
      <a:minorFont>
        <a:latin typeface="Helvetica Neue Medium"/>
        <a:ea typeface="Helvetica Neue Medium"/>
        <a:cs typeface="Helvetica Neue Medium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12700" cap="flat">
          <a:noFill/>
          <a:miter lim="400000"/>
        </a:ln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2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24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Helvetica Neue"/>
            <a:ea typeface="Helvetica Neue"/>
            <a:cs typeface="Helvetica Neue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2077</Words>
  <Application>WPS Presentation</Application>
  <PresentationFormat>Custom</PresentationFormat>
  <Paragraphs>77</Paragraphs>
  <Slides>16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35" baseType="lpstr">
      <vt:lpstr>Arial</vt:lpstr>
      <vt:lpstr>SimSun</vt:lpstr>
      <vt:lpstr>Wingdings</vt:lpstr>
      <vt:lpstr>Helvetica Neue</vt:lpstr>
      <vt:lpstr>Helvetica Neue Medium</vt:lpstr>
      <vt:lpstr>Helvetica Neue Light</vt:lpstr>
      <vt:lpstr>Helvetica Neue Thin</vt:lpstr>
      <vt:lpstr>Segoe Print</vt:lpstr>
      <vt:lpstr>Helvetica Light</vt:lpstr>
      <vt:lpstr>Bahnschrift SemiBold</vt:lpstr>
      <vt:lpstr>Bahnschrift SemiLight SemiCondensed</vt:lpstr>
      <vt:lpstr>Bahnschrift</vt:lpstr>
      <vt:lpstr>Georgia</vt:lpstr>
      <vt:lpstr>Calibri</vt:lpstr>
      <vt:lpstr>Arial Black</vt:lpstr>
      <vt:lpstr>Microsoft YaHei</vt:lpstr>
      <vt:lpstr>Arial Unicode MS</vt:lpstr>
      <vt:lpstr>Helvetica Neue Medium</vt:lpstr>
      <vt:lpstr>White</vt:lpstr>
      <vt:lpstr>Convolutional neural network for Image recognition</vt:lpstr>
      <vt:lpstr>Dense neural network and Convolutional neural network</vt:lpstr>
      <vt:lpstr>A simple CNN structure</vt:lpstr>
      <vt:lpstr>Convolutional kernel</vt:lpstr>
      <vt:lpstr>Convolutional kernel</vt:lpstr>
      <vt:lpstr>Rectified linear unit，ReLU</vt:lpstr>
      <vt:lpstr>Pooling layer</vt:lpstr>
      <vt:lpstr>Pooling</vt:lpstr>
      <vt:lpstr>MNIST dataset</vt:lpstr>
      <vt:lpstr>LeNet-5 for MNIST</vt:lpstr>
      <vt:lpstr>CIFAR10 dataset and  state of the art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Convolutional neural network for Image recognition</dc:title>
  <dc:creator/>
  <cp:lastModifiedBy>ANISH</cp:lastModifiedBy>
  <cp:revision>13</cp:revision>
  <dcterms:created xsi:type="dcterms:W3CDTF">2023-06-30T15:02:00Z</dcterms:created>
  <dcterms:modified xsi:type="dcterms:W3CDTF">2023-08-04T17:30:09Z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164D003C1CFA42CC9C29AC605461E76F</vt:lpwstr>
  </property>
  <property fmtid="{D5CDD505-2E9C-101B-9397-08002B2CF9AE}" pid="3" name="KSOProductBuildVer">
    <vt:lpwstr>1033-11.2.0.11219</vt:lpwstr>
  </property>
</Properties>
</file>