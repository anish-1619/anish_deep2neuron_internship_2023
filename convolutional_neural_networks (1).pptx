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3"/>
    <p:sldId id="263" r:id="rId4"/>
    <p:sldId id="264" r:id="rId5"/>
    <p:sldId id="269" r:id="rId6"/>
    <p:sldId id="257" r:id="rId7"/>
    <p:sldId id="266" r:id="rId8"/>
    <p:sldId id="265" r:id="rId9"/>
    <p:sldId id="258" r:id="rId10"/>
    <p:sldId id="268" r:id="rId11"/>
    <p:sldId id="267" r:id="rId12"/>
    <p:sldId id="259" r:id="rId13"/>
    <p:sldId id="260" r:id="rId14"/>
    <p:sldId id="278" r:id="rId15"/>
    <p:sldId id="279" r:id="rId16"/>
    <p:sldId id="280" r:id="rId17"/>
    <p:sldId id="281" r:id="rId1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61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-1408" y="-104"/>
      </p:cViewPr>
      <p:guideLst>
        <p:guide orient="horz" pos="311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像"/>
          <p:cNvSpPr>
            <a:spLocks noGrp="1"/>
          </p:cNvSpPr>
          <p:nvPr>
            <p:ph type="pic" idx="13"/>
          </p:nvPr>
        </p:nvSpPr>
        <p:spPr>
          <a:xfrm>
            <a:off x="1625600" y="673100"/>
            <a:ext cx="9753600" cy="5905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2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2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图像"/>
          <p:cNvSpPr>
            <a:spLocks noGrp="1"/>
          </p:cNvSpPr>
          <p:nvPr>
            <p:ph type="pic" sz="half" idx="13"/>
          </p:nvPr>
        </p:nvSpPr>
        <p:spPr>
          <a:xfrm>
            <a:off x="6718300" y="635000"/>
            <a:ext cx="53340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3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4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7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图像"/>
          <p:cNvSpPr>
            <a:spLocks noGrp="1"/>
          </p:cNvSpPr>
          <p:nvPr>
            <p:ph type="pic" sz="half" idx="13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66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7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图像"/>
          <p:cNvSpPr>
            <a:spLocks noGrp="1"/>
          </p:cNvSpPr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84" name="图像"/>
          <p:cNvSpPr>
            <a:spLocks noGrp="1"/>
          </p:cNvSpPr>
          <p:nvPr>
            <p:ph type="pic" sz="quarter" idx="14"/>
          </p:nvPr>
        </p:nvSpPr>
        <p:spPr>
          <a:xfrm>
            <a:off x="6718300" y="8890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85" name="图像"/>
          <p:cNvSpPr>
            <a:spLocks noGrp="1"/>
          </p:cNvSpPr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 i="1"/>
            </a:lvl1pPr>
          </a:lstStyle>
          <a:p>
            <a:r>
              <a:t>–Johnny Appleseed</a:t>
            </a:r>
          </a:p>
        </p:txBody>
      </p:sp>
      <p:sp>
        <p:nvSpPr>
          <p:cNvPr id="94" name="“在此键入引文。”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1270000" y="4216400"/>
            <a:ext cx="10464800" cy="711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“在此键入引文。”</a:t>
            </a:r>
          </a:p>
        </p:txBody>
      </p:sp>
      <p:sp>
        <p:nvSpPr>
          <p:cNvPr id="9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图像"/>
          <p:cNvSpPr>
            <a:spLocks noGrp="1"/>
          </p:cNvSpPr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NN"/>
          <p:cNvSpPr txBox="1">
            <a:spLocks noGrp="1"/>
          </p:cNvSpPr>
          <p:nvPr>
            <p:ph type="ctrTitle"/>
          </p:nvPr>
        </p:nvSpPr>
        <p:spPr>
          <a:xfrm>
            <a:off x="1270000" y="3185618"/>
            <a:ext cx="10464800" cy="17546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5400" dirty="0"/>
              <a:t>Convolutional neural network for Image recognition</a:t>
            </a:r>
            <a:endParaRPr sz="5400" dirty="0"/>
          </a:p>
        </p:txBody>
      </p:sp>
      <p:sp>
        <p:nvSpPr>
          <p:cNvPr id="2" name="TextBox 1"/>
          <p:cNvSpPr txBox="1"/>
          <p:nvPr/>
        </p:nvSpPr>
        <p:spPr>
          <a:xfrm>
            <a:off x="3616599" y="6177335"/>
            <a:ext cx="5772031" cy="9632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 SemiBold" panose="020B0502040204020203" charset="0"/>
                <a:ea typeface="Helvetica Neue"/>
                <a:cs typeface="Bahnschrift SemiBold" panose="020B0502040204020203" charset="0"/>
                <a:sym typeface="Helvetica Neue"/>
              </a:rPr>
              <a:t>Anish. M</a:t>
            </a: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Bahnschrift SemiBold" panose="020B0502040204020203" charset="0"/>
              <a:ea typeface="Helvetica Neue"/>
              <a:cs typeface="Bahnschrift SemiBold" panose="020B0502040204020203" charset="0"/>
              <a:sym typeface="Helvetica Neue"/>
            </a:endParaRP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Bahnschrift SemiBold" panose="020B0502040204020203" charset="0"/>
              <a:ea typeface="Helvetica Neue"/>
              <a:cs typeface="Bahnschrift SemiBold" panose="020B0502040204020203" charset="0"/>
              <a:sym typeface="Helvetica Neue"/>
            </a:endParaRPr>
          </a:p>
        </p:txBody>
      </p:sp>
      <p:pic>
        <p:nvPicPr>
          <p:cNvPr id="3" name="Picture 2" descr="OI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0940" y="0"/>
            <a:ext cx="2162175" cy="1714500"/>
          </a:xfrm>
          <a:prstGeom prst="rect">
            <a:avLst/>
          </a:prstGeom>
        </p:spPr>
      </p:pic>
      <p:sp>
        <p:nvSpPr>
          <p:cNvPr id="6" name="Half Frame 5"/>
          <p:cNvSpPr/>
          <p:nvPr/>
        </p:nvSpPr>
        <p:spPr>
          <a:xfrm>
            <a:off x="-13335" y="-20320"/>
            <a:ext cx="1017270" cy="793750"/>
          </a:xfrm>
          <a:prstGeom prst="halfFrame">
            <a:avLst/>
          </a:prstGeom>
          <a:solidFill>
            <a:srgbClr val="FC610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3" name="Half Frame 12"/>
          <p:cNvSpPr/>
          <p:nvPr/>
        </p:nvSpPr>
        <p:spPr>
          <a:xfrm rot="10800000">
            <a:off x="11987530" y="8959850"/>
            <a:ext cx="1017270" cy="793750"/>
          </a:xfrm>
          <a:prstGeom prst="halfFrame">
            <a:avLst/>
          </a:prstGeom>
          <a:solidFill>
            <a:srgbClr val="FC610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168400" y="787400"/>
            <a:ext cx="10464800" cy="1422400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Dense neural network and Convolutional neural network</a:t>
            </a:r>
            <a:endParaRPr lang="zh-CN" altLang="en-US" sz="4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05" y="3272076"/>
            <a:ext cx="12076190" cy="381904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70000" y="863600"/>
            <a:ext cx="10464800" cy="1422400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A simple CNN structure</a:t>
            </a:r>
            <a:endParaRPr lang="zh-CN" altLang="en-US" sz="40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"/>
          </p:nvPr>
        </p:nvSpPr>
        <p:spPr>
          <a:xfrm>
            <a:off x="1270000" y="8153400"/>
            <a:ext cx="10464800" cy="1485900"/>
          </a:xfrm>
        </p:spPr>
        <p:txBody>
          <a:bodyPr>
            <a:normAutofit/>
          </a:bodyPr>
          <a:lstStyle/>
          <a:p>
            <a:pPr algn="l"/>
            <a:r>
              <a:rPr lang="en-US" altLang="zh-CN" sz="1800" dirty="0"/>
              <a:t>CONV: Convolutional kernel layer</a:t>
            </a:r>
            <a:endParaRPr lang="en-US" altLang="zh-CN" sz="1800" dirty="0"/>
          </a:p>
          <a:p>
            <a:pPr algn="l"/>
            <a:r>
              <a:rPr lang="en-US" altLang="zh-CN" sz="1800" dirty="0"/>
              <a:t>RELU: Activation function</a:t>
            </a:r>
            <a:endParaRPr lang="en-US" altLang="zh-CN" sz="1800" dirty="0"/>
          </a:p>
          <a:p>
            <a:pPr algn="l"/>
            <a:r>
              <a:rPr lang="en-US" altLang="zh-CN" sz="1800" dirty="0"/>
              <a:t>POOL: Dimension reduction layer</a:t>
            </a:r>
            <a:endParaRPr lang="en-US" altLang="zh-CN" sz="1800" dirty="0"/>
          </a:p>
          <a:p>
            <a:pPr algn="l"/>
            <a:r>
              <a:rPr lang="en-US" altLang="zh-CN" sz="1800" dirty="0"/>
              <a:t>FC: Fully connection layer</a:t>
            </a:r>
            <a:endParaRPr lang="zh-CN" altLang="en-US" sz="1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543" y="2562557"/>
            <a:ext cx="11085714" cy="531428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70000" y="952500"/>
            <a:ext cx="10464800" cy="1422400"/>
          </a:xfrm>
        </p:spPr>
        <p:txBody>
          <a:bodyPr/>
          <a:lstStyle/>
          <a:p>
            <a:r>
              <a:rPr lang="en-US" altLang="zh-CN" dirty="0"/>
              <a:t>Convolutional kernel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562" y="2994025"/>
            <a:ext cx="4714875" cy="51625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141615" y="3586738"/>
            <a:ext cx="276678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This is a gif image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onvolutional kern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Convolutional kernel</a:t>
            </a:r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9410700" y="4313893"/>
            <a:ext cx="2641600" cy="26879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altLang="zh-CN" b="0" dirty="0"/>
              <a:t>Padding on the input volume with zeros in such way that the conv layer does not alter the spatial dimensions of the input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50" name="Picture 2" descr="https://timgsa.baidu.com/timg?image&amp;quality=80&amp;size=b9999_10000&amp;sec=1512249322478&amp;di=69a4ec8266d1bbe18d8a175f759271e2&amp;imgtype=0&amp;src=http%3A%2F%2Fimgtec.eetrend.com%2Fsites%2Fimgtec.eetrend.com%2Ffiles%2F201610%2Fblog%2F8795-23429-1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663" y="2413000"/>
            <a:ext cx="6534923" cy="5156200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Rectified linear unit</a:t>
            </a:r>
            <a:r>
              <a:rPr lang="zh-CN" altLang="en-US" sz="4000" b="1" dirty="0"/>
              <a:t>，</a:t>
            </a:r>
            <a:r>
              <a:rPr lang="en-US" altLang="zh-CN" sz="4000" b="1" dirty="0" err="1"/>
              <a:t>ReLU</a:t>
            </a:r>
            <a:endParaRPr lang="en-US" altLang="zh-CN" sz="4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700865" y="2634238"/>
            <a:ext cx="35747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600" y="2660676"/>
            <a:ext cx="7879458" cy="66672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795" y="3575076"/>
            <a:ext cx="5972708" cy="506231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Pooling layer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209" y="3057819"/>
            <a:ext cx="11952381" cy="470476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oo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Pooling</a:t>
            </a:r>
            <a:endParaRPr dirty="0"/>
          </a:p>
        </p:txBody>
      </p:sp>
      <p:sp>
        <p:nvSpPr>
          <p:cNvPr id="127" name="正文"/>
          <p:cNvSpPr txBox="1">
            <a:spLocks noGrp="1"/>
          </p:cNvSpPr>
          <p:nvPr>
            <p:ph type="body" idx="1"/>
          </p:nvPr>
        </p:nvSpPr>
        <p:spPr>
          <a:xfrm>
            <a:off x="952500" y="2743200"/>
            <a:ext cx="11099800" cy="62865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pic>
        <p:nvPicPr>
          <p:cNvPr id="128" name="bhXRN.png" descr="bhXR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467" y="2743199"/>
            <a:ext cx="8993833" cy="640632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MNIST dataset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609" y="2593182"/>
            <a:ext cx="6630591" cy="663059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30609" y="2794178"/>
            <a:ext cx="5080000" cy="41652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altLang="zh-CN" b="0" dirty="0"/>
              <a:t>The MNIST database of handwritten digits,</a:t>
            </a:r>
            <a:endParaRPr lang="en-US" altLang="zh-CN" b="0" dirty="0"/>
          </a:p>
          <a:p>
            <a:pPr algn="l"/>
            <a:r>
              <a:rPr lang="en-US" altLang="zh-CN" b="0" dirty="0"/>
              <a:t> available from this page, </a:t>
            </a:r>
            <a:endParaRPr lang="en-US" altLang="zh-CN" b="0" dirty="0"/>
          </a:p>
          <a:p>
            <a:pPr algn="l"/>
            <a:r>
              <a:rPr lang="en-US" altLang="zh-CN" b="0" dirty="0"/>
              <a:t>has a training set of 60,000 examples, and a test set of 10,000 examples.</a:t>
            </a:r>
            <a:endParaRPr lang="en-US" altLang="zh-CN" b="0" dirty="0"/>
          </a:p>
          <a:p>
            <a:pPr algn="l"/>
            <a:r>
              <a:rPr lang="en-US" altLang="zh-CN" b="0" dirty="0"/>
              <a:t> It is a subset of a larger set available from NIST. </a:t>
            </a:r>
            <a:endParaRPr lang="en-US" altLang="zh-CN" b="0" dirty="0"/>
          </a:p>
          <a:p>
            <a:pPr algn="l"/>
            <a:r>
              <a:rPr lang="en-US" altLang="zh-CN" b="0" dirty="0"/>
              <a:t>The digits have been size-normalized and centered in a fixed-size image.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LeNet-5 for MNIST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95963"/>
            <a:ext cx="13004800" cy="560307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IFAR10 state of ar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sz="4800" dirty="0"/>
              <a:t>CIFAR10</a:t>
            </a:r>
            <a:r>
              <a:rPr lang="en-US" altLang="zh-CN" sz="4800" dirty="0"/>
              <a:t> dataset and </a:t>
            </a:r>
            <a:r>
              <a:rPr sz="4800" dirty="0"/>
              <a:t> state of </a:t>
            </a:r>
            <a:r>
              <a:rPr lang="en-US" sz="4800" dirty="0"/>
              <a:t>the </a:t>
            </a:r>
            <a:r>
              <a:rPr sz="4800" dirty="0"/>
              <a:t>art</a:t>
            </a:r>
            <a:endParaRPr sz="4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3620145"/>
            <a:ext cx="6723809" cy="5161905"/>
          </a:xfrm>
          <a:prstGeom prst="rect">
            <a:avLst/>
          </a:prstGeom>
        </p:spPr>
      </p:pic>
      <p:pic>
        <p:nvPicPr>
          <p:cNvPr id="132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0" y="3419797"/>
            <a:ext cx="3683000" cy="55626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文本框 4"/>
          <p:cNvSpPr txBox="1"/>
          <p:nvPr/>
        </p:nvSpPr>
        <p:spPr>
          <a:xfrm>
            <a:off x="638615" y="2075142"/>
            <a:ext cx="11727569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US" altLang="zh-CN" b="0" dirty="0"/>
              <a:t>The CIFAR-10 dataset consists of 60000 32x32 color images in 10 classes, </a:t>
            </a:r>
            <a:endParaRPr lang="en-US" altLang="zh-CN" b="0" dirty="0"/>
          </a:p>
          <a:p>
            <a:r>
              <a:rPr lang="en-US" altLang="zh-CN" b="0" dirty="0"/>
              <a:t>with 6000 images per class. There are 50000 training images and 10000 test images.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“VGG16”的图片搜索结果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875077" y="3310178"/>
            <a:ext cx="7785102" cy="2155348"/>
          </a:xfrm>
          <a:prstGeom prst="rect">
            <a:avLst/>
          </a:prstGeom>
          <a:noFill/>
        </p:spPr>
      </p:pic>
      <p:pic>
        <p:nvPicPr>
          <p:cNvPr id="3076" name="Picture 4" descr="“GooleNet”的图片搜索结果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454" y="590552"/>
            <a:ext cx="2089009" cy="7594600"/>
          </a:xfrm>
          <a:prstGeom prst="rect">
            <a:avLst/>
          </a:prstGeom>
          <a:noFill/>
        </p:spPr>
      </p:pic>
      <p:pic>
        <p:nvPicPr>
          <p:cNvPr id="3078" name="Picture 6" descr="“Resnet”的图片搜索结果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773386" y="3038750"/>
            <a:ext cx="7785104" cy="2530339"/>
          </a:xfrm>
          <a:prstGeom prst="rect">
            <a:avLst/>
          </a:prstGeom>
          <a:noFill/>
        </p:spPr>
      </p:pic>
      <p:sp>
        <p:nvSpPr>
          <p:cNvPr id="4" name="文本框 3"/>
          <p:cNvSpPr txBox="1"/>
          <p:nvPr/>
        </p:nvSpPr>
        <p:spPr>
          <a:xfrm>
            <a:off x="1401921" y="8870308"/>
            <a:ext cx="1231106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VGG-16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10199" y="8918254"/>
            <a:ext cx="188226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GoogleNet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894808" y="8961692"/>
            <a:ext cx="116538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ResNet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Placeholder 5" descr="lqgmpiyn"/>
          <p:cNvPicPr>
            <a:picLocks noChangeAspect="1"/>
          </p:cNvPicPr>
          <p:nvPr>
            <p:ph type="pic" idx="13"/>
          </p:nvPr>
        </p:nvPicPr>
        <p:blipFill>
          <a:blip r:embed="rId1"/>
          <a:stretch>
            <a:fillRect/>
          </a:stretch>
        </p:blipFill>
        <p:spPr>
          <a:xfrm>
            <a:off x="2734945" y="2670175"/>
            <a:ext cx="7534275" cy="59817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940560" y="770573"/>
            <a:ext cx="9387205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8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Bahnschrift SemiLight SemiCondensed" panose="020B0502040204020203" charset="0"/>
                <a:ea typeface="Helvetica Neue"/>
                <a:cs typeface="Bahnschrift SemiLight SemiCondensed" panose="020B0502040204020203" charset="0"/>
                <a:sym typeface="Helvetica Neue"/>
              </a:rPr>
              <a:t>Recurrent Neural Network</a:t>
            </a:r>
            <a:endParaRPr kumimoji="0" lang="en-US" sz="48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Bahnschrift SemiLight SemiCondensed" panose="020B0502040204020203" charset="0"/>
              <a:ea typeface="Helvetica Neue"/>
              <a:cs typeface="Bahnschrift SemiLight SemiCondensed" panose="020B0502040204020203" charset="0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Placeholder 6" descr="Architecture-of-the-LSTM-model-and-LSTM-cell-structure-Wu-and-Lin-2019"/>
          <p:cNvPicPr>
            <a:picLocks noChangeAspect="1"/>
          </p:cNvPicPr>
          <p:nvPr>
            <p:ph type="pic" idx="13"/>
          </p:nvPr>
        </p:nvPicPr>
        <p:blipFill>
          <a:blip r:embed="rId1"/>
          <a:stretch>
            <a:fillRect/>
          </a:stretch>
        </p:blipFill>
        <p:spPr>
          <a:xfrm>
            <a:off x="1935480" y="2242185"/>
            <a:ext cx="9133840" cy="700278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2693670" y="485458"/>
            <a:ext cx="9122410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charset="0"/>
                <a:ea typeface="Helvetica Neue"/>
                <a:cs typeface="Georgia" panose="02040502050405020303" charset="0"/>
                <a:sym typeface="Helvetica Neue"/>
              </a:rPr>
              <a:t>Long Short-Term Memory</a:t>
            </a:r>
            <a:endParaRPr kumimoji="0" lang="en-US" sz="48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eorgia" panose="02040502050405020303" charset="0"/>
              <a:ea typeface="Helvetica Neue"/>
              <a:cs typeface="Georgia" panose="02040502050405020303" charset="0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2219325" y="-21907"/>
            <a:ext cx="8897620" cy="840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charset="0"/>
                <a:ea typeface="Helvetica Neue"/>
                <a:cs typeface="Calibri" panose="020F0502020204030204" charset="0"/>
                <a:sym typeface="Helvetica Neue"/>
              </a:rPr>
              <a:t>Recurrent Neural Networks RNNs</a:t>
            </a:r>
            <a:endParaRPr kumimoji="0" lang="en-US" sz="48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charset="0"/>
              <a:ea typeface="Helvetica Neue"/>
              <a:cs typeface="Calibri" panose="020F0502020204030204" charset="0"/>
              <a:sym typeface="Helvetica Neue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81305" y="1151573"/>
            <a:ext cx="12441555" cy="32766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Black" panose="020B0A04020102020204" charset="0"/>
                <a:ea typeface="Helvetica Neue"/>
                <a:cs typeface="Arial Black" panose="020B0A04020102020204" charset="0"/>
                <a:sym typeface="Helvetica Neue"/>
              </a:rPr>
              <a:t>1</a:t>
            </a: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.Recurrent layer feedback loops are a feature of RNNs. They are able to keep</a:t>
            </a:r>
            <a:endParaRPr kumimoji="0" 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>
                <a:sym typeface="Helvetica Neue"/>
              </a:rPr>
              <a:t>information in "memory" as a result.</a:t>
            </a:r>
            <a:endParaRPr lang="en-US">
              <a:sym typeface="Helvetica Neue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just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kumimoji="0" lang="en-US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Black" panose="020B0A04020102020204" charset="0"/>
                <a:ea typeface="Helvetica Neue"/>
                <a:cs typeface="Arial Black" panose="020B0A04020102020204" charset="0"/>
                <a:sym typeface="Helvetica Neue"/>
              </a:rPr>
              <a:t>2</a:t>
            </a:r>
            <a:r>
              <a:rPr kumimoji="0" lang="en-US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Standard RNNs might be difficult to train to address issues that call for                       learning long-term temporal dependencies.</a:t>
            </a:r>
            <a:endParaRPr kumimoji="0" 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Black" panose="020B0A04020102020204" charset="0"/>
                <a:ea typeface="Helvetica Neue"/>
                <a:cs typeface="Arial Black" panose="020B0A04020102020204" charset="0"/>
                <a:sym typeface="Helvetica Neue"/>
              </a:rPr>
              <a:t> 3</a:t>
            </a: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.This is due to the loss function's gradient's exponential decrease over time (called the vanishing gradient problem).</a:t>
            </a:r>
            <a:endParaRPr kumimoji="0" 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219325" y="4678363"/>
            <a:ext cx="9100820" cy="716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just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charset="0"/>
                <a:ea typeface="Helvetica Neue"/>
                <a:cs typeface="Georgia" panose="02040502050405020303" charset="0"/>
                <a:sym typeface="Helvetica Neue"/>
              </a:rPr>
              <a:t>Long Short-Term Memory LSTM</a:t>
            </a:r>
            <a:endParaRPr kumimoji="0" 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eorgia" panose="02040502050405020303" charset="0"/>
              <a:ea typeface="Helvetica Neue"/>
              <a:cs typeface="Georgia" panose="02040502050405020303" charset="0"/>
              <a:sym typeface="Helvetica Neue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40665" y="5645468"/>
            <a:ext cx="12482195" cy="37947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Black" panose="020B0A04020102020204" charset="0"/>
                <a:ea typeface="Helvetica Neue"/>
                <a:cs typeface="Arial Black" panose="020B0A04020102020204" charset="0"/>
                <a:sym typeface="Helvetica Neue"/>
              </a:rPr>
              <a:t>1</a:t>
            </a: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.A form of RNN called LSTM networks employs special units in addition to conventional units.</a:t>
            </a:r>
            <a:endParaRPr kumimoji="0" 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Black" panose="020B0A04020102020204" charset="0"/>
                <a:ea typeface="Helvetica Neue"/>
                <a:cs typeface="Arial Black" panose="020B0A04020102020204" charset="0"/>
                <a:sym typeface="Helvetica Neue"/>
              </a:rPr>
              <a:t> 2</a:t>
            </a: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.A "memory cell" found in LSTM units is capable of storing data in memory for extended periods of time. They can learn longer-term dependencies thanks to this memory cell.</a:t>
            </a:r>
            <a:endParaRPr kumimoji="0" 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 Black" panose="020B0A04020102020204" charset="0"/>
                <a:ea typeface="Helvetica Neue"/>
                <a:cs typeface="Arial Black" panose="020B0A04020102020204" charset="0"/>
                <a:sym typeface="Helvetica Neue"/>
              </a:rPr>
              <a:t>3</a:t>
            </a:r>
            <a:r>
              <a: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.By adding new gates, such as input and forget gates, which improve control over the gradient flow and better preserve "long-range dependencies," LSTMs address the disappearing and expanding gradient difficulties.</a:t>
            </a:r>
            <a:endParaRPr kumimoji="0" lang="en-US" sz="24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2837180" y="3842068"/>
            <a:ext cx="7981950" cy="15786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960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kumimoji="0" lang="en-US" sz="960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Half Frame 6"/>
          <p:cNvSpPr/>
          <p:nvPr/>
        </p:nvSpPr>
        <p:spPr>
          <a:xfrm>
            <a:off x="-13335" y="-20320"/>
            <a:ext cx="1017270" cy="793750"/>
          </a:xfrm>
          <a:prstGeom prst="halfFrame">
            <a:avLst/>
          </a:prstGeom>
          <a:solidFill>
            <a:srgbClr val="FC610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3" name="Half Frame 12"/>
          <p:cNvSpPr/>
          <p:nvPr/>
        </p:nvSpPr>
        <p:spPr>
          <a:xfrm rot="10800000">
            <a:off x="11987530" y="8959850"/>
            <a:ext cx="1017270" cy="793750"/>
          </a:xfrm>
          <a:prstGeom prst="halfFrame">
            <a:avLst/>
          </a:prstGeom>
          <a:solidFill>
            <a:srgbClr val="FC610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22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1963</Words>
  <Application>WPS Presentation</Application>
  <PresentationFormat>Custom</PresentationFormat>
  <Paragraphs>75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SimSun</vt:lpstr>
      <vt:lpstr>Wingdings</vt:lpstr>
      <vt:lpstr>Helvetica Neue</vt:lpstr>
      <vt:lpstr>Helvetica Neue Medium</vt:lpstr>
      <vt:lpstr>Helvetica Neue Light</vt:lpstr>
      <vt:lpstr>Helvetica Neue Thin</vt:lpstr>
      <vt:lpstr>Segoe Print</vt:lpstr>
      <vt:lpstr>Helvetica Light</vt:lpstr>
      <vt:lpstr>Bahnschrift SemiBold</vt:lpstr>
      <vt:lpstr>Bahnschrift SemiLight SemiCondensed</vt:lpstr>
      <vt:lpstr>Bahnschrift</vt:lpstr>
      <vt:lpstr>Georgia</vt:lpstr>
      <vt:lpstr>Calibri</vt:lpstr>
      <vt:lpstr>Arial Black</vt:lpstr>
      <vt:lpstr>Microsoft YaHei</vt:lpstr>
      <vt:lpstr>Arial Unicode MS</vt:lpstr>
      <vt:lpstr>Helvetica Neue Medium</vt:lpstr>
      <vt:lpstr>White</vt:lpstr>
      <vt:lpstr>Convolutional neural network for Image recognition</vt:lpstr>
      <vt:lpstr>Dense neural network and Convolutional neural network</vt:lpstr>
      <vt:lpstr>A simple CNN structure</vt:lpstr>
      <vt:lpstr>Convolutional kernel</vt:lpstr>
      <vt:lpstr>Convolutional kernel</vt:lpstr>
      <vt:lpstr>Rectified linear unit，ReLU</vt:lpstr>
      <vt:lpstr>Pooling layer</vt:lpstr>
      <vt:lpstr>Pooling</vt:lpstr>
      <vt:lpstr>MNIST dataset</vt:lpstr>
      <vt:lpstr>LeNet-5 for MNIST</vt:lpstr>
      <vt:lpstr>CIFAR10 dataset and  state of the art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 for Image recognition</dc:title>
  <dc:creator/>
  <cp:lastModifiedBy>ANISH</cp:lastModifiedBy>
  <cp:revision>12</cp:revision>
  <dcterms:created xsi:type="dcterms:W3CDTF">2023-06-30T15:02:00Z</dcterms:created>
  <dcterms:modified xsi:type="dcterms:W3CDTF">2023-08-04T17:23:28Z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164D003C1CFA42CC9C29AC605461E76F</vt:lpwstr>
  </property>
  <property fmtid="{D5CDD505-2E9C-101B-9397-08002B2CF9AE}" pid="3" name="KSOProductBuildVer">
    <vt:lpwstr>1033-11.2.0.11219</vt:lpwstr>
  </property>
</Properties>
</file>